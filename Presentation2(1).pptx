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8.xml" ContentType="application/vnd.openxmlformats-officedocument.presentationml.tags+xml"/>
  <Override PartName="/ppt/theme/themeOverride3.xml" ContentType="application/vnd.openxmlformats-officedocument.themeOverride+xml"/>
  <Override PartName="/ppt/tags/tag9.xml" ContentType="application/vnd.openxmlformats-officedocument.presentationml.tags+xml"/>
  <Override PartName="/ppt/theme/themeOverride4.xml" ContentType="application/vnd.openxmlformats-officedocument.themeOverr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tags/tag13.xml" ContentType="application/vnd.openxmlformats-officedocument.presentationml.tags+xml"/>
  <Override PartName="/ppt/theme/themeOverride6.xml" ContentType="application/vnd.openxmlformats-officedocument.themeOverride+xml"/>
  <Override PartName="/ppt/tags/tag14.xml" ContentType="application/vnd.openxmlformats-officedocument.presentationml.tags+xml"/>
  <Override PartName="/ppt/theme/themeOverride7.xml" ContentType="application/vnd.openxmlformats-officedocument.themeOverride+xml"/>
  <Override PartName="/ppt/tags/tag15.xml" ContentType="application/vnd.openxmlformats-officedocument.presentationml.tags+xml"/>
  <Override PartName="/ppt/theme/themeOverride8.xml" ContentType="application/vnd.openxmlformats-officedocument.themeOverride+xml"/>
  <Override PartName="/ppt/tags/tag16.xml" ContentType="application/vnd.openxmlformats-officedocument.presentationml.tags+xml"/>
  <Override PartName="/ppt/theme/themeOverride9.xml" ContentType="application/vnd.openxmlformats-officedocument.themeOverride+xml"/>
  <Override PartName="/ppt/tags/tag1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5"/>
  </p:notesMasterIdLst>
  <p:sldIdLst>
    <p:sldId id="257" r:id="rId4"/>
    <p:sldId id="2147482439" r:id="rId5"/>
    <p:sldId id="2147480734" r:id="rId6"/>
    <p:sldId id="278" r:id="rId7"/>
    <p:sldId id="2147482440" r:id="rId8"/>
    <p:sldId id="276" r:id="rId9"/>
    <p:sldId id="2147482442" r:id="rId10"/>
    <p:sldId id="2147482443" r:id="rId11"/>
    <p:sldId id="300" r:id="rId12"/>
    <p:sldId id="2147482444" r:id="rId13"/>
    <p:sldId id="318" r:id="rId14"/>
  </p:sldIdLst>
  <p:sldSz cx="10969625" cy="6170613"/>
  <p:notesSz cx="6858000" cy="9144000"/>
  <p:custDataLst>
    <p:tags r:id="rId16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671F6-45BE-FF3C-CA42-C78926D099BC}" v="202" dt="2026-07-06T06:38:11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6211" autoAdjust="0"/>
  </p:normalViewPr>
  <p:slideViewPr>
    <p:cSldViewPr snapToGrid="0">
      <p:cViewPr varScale="1">
        <p:scale>
          <a:sx n="82" d="100"/>
          <a:sy n="82" d="100"/>
        </p:scale>
        <p:origin x="196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25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478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1B61-CA54-63AA-EE8A-827B00C65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D0DB5-7C51-9CEE-F997-E85E3522E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35EE1-CE00-968D-39CC-1CDFAEDE6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5831E-AB86-DBB3-30BE-AC5AC7088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22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Agregar título de diapositiva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Agregar título de diapositiva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TlP/MFD | 2026-07-02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Todos los derechos reservados, también en relación a cualquier mantenimiento, utilización, reproducción, procesamiento y transferencia, así como en caso de solicitudes de derechos de propiedad.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6.sv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5.svg"/><Relationship Id="rId2" Type="http://schemas.openxmlformats.org/officeDocument/2006/relationships/tags" Target="../tags/tag2.xml"/><Relationship Id="rId16" Type="http://schemas.openxmlformats.org/officeDocument/2006/relationships/image" Target="../media/image19.svg"/><Relationship Id="rId1" Type="http://schemas.openxmlformats.org/officeDocument/2006/relationships/themeOverride" Target="../theme/themeOverride1.xml"/><Relationship Id="rId6" Type="http://schemas.openxmlformats.org/officeDocument/2006/relationships/tags" Target="../tags/tag6.xml"/><Relationship Id="rId11" Type="http://schemas.openxmlformats.org/officeDocument/2006/relationships/image" Target="../media/image14.svg"/><Relationship Id="rId5" Type="http://schemas.openxmlformats.org/officeDocument/2006/relationships/tags" Target="../tags/tag5.xml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tags" Target="../tags/tag11.xml"/><Relationship Id="rId7" Type="http://schemas.openxmlformats.org/officeDocument/2006/relationships/image" Target="../media/image16.svg"/><Relationship Id="rId2" Type="http://schemas.openxmlformats.org/officeDocument/2006/relationships/tags" Target="../tags/tag10.xml"/><Relationship Id="rId1" Type="http://schemas.openxmlformats.org/officeDocument/2006/relationships/themeOverride" Target="../theme/themeOverride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22.jpeg"/><Relationship Id="rId4" Type="http://schemas.openxmlformats.org/officeDocument/2006/relationships/tags" Target="../tags/tag12.xml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8.png"/><Relationship Id="rId2" Type="http://schemas.openxmlformats.org/officeDocument/2006/relationships/tags" Target="../tags/tag15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29.png"/><Relationship Id="rId5" Type="http://schemas.openxmlformats.org/officeDocument/2006/relationships/image" Target="../media/image27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CEAD-74B7-A795-4D87-06BAA0C58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Cycle Time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07B5A-6539-B6D2-2CD2-0B2A5AA9B8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Jose Antonio Gonzalez Vazquez</a:t>
            </a:r>
          </a:p>
          <a:p>
            <a:r>
              <a:rPr lang="en-US" dirty="0" err="1"/>
              <a:t>TlP</a:t>
            </a:r>
            <a:r>
              <a:rPr lang="en-US" dirty="0"/>
              <a:t>/MFD</a:t>
            </a:r>
          </a:p>
        </p:txBody>
      </p:sp>
    </p:spTree>
    <p:extLst>
      <p:ext uri="{BB962C8B-B14F-4D97-AF65-F5344CB8AC3E}">
        <p14:creationId xmlns:p14="http://schemas.microsoft.com/office/powerpoint/2010/main" val="35140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7">
            <a:extLst>
              <a:ext uri="{FF2B5EF4-FFF2-40B4-BE49-F238E27FC236}">
                <a16:creationId xmlns:a16="http://schemas.microsoft.com/office/drawing/2014/main" id="{49B3DA40-C774-9E2F-9FED-DD9D806DB5B3}"/>
              </a:ext>
            </a:extLst>
          </p:cNvPr>
          <p:cNvSpPr txBox="1"/>
          <p:nvPr/>
        </p:nvSpPr>
        <p:spPr>
          <a:xfrm>
            <a:off x="6118568" y="944356"/>
            <a:ext cx="18210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33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 pitchFamily="2" charset="0"/>
                <a:ea typeface="Bosch Sans CHS" panose="020B0604020202020204" pitchFamily="34" charset="-120"/>
              </a:rPr>
              <a:t>No Real-Time </a:t>
            </a:r>
            <a:r>
              <a:rPr kumimoji="0" lang="es-MX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 pitchFamily="2" charset="0"/>
                <a:ea typeface="Bosch Sans CHS" panose="020B0604020202020204" pitchFamily="34" charset="-120"/>
              </a:rPr>
              <a:t>Metrics</a:t>
            </a:r>
            <a:endParaRPr kumimoji="0" lang="de-DE" sz="1400" b="1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08FCF591-14FB-FA57-1237-99BB9941CEAE}"/>
              </a:ext>
            </a:extLst>
          </p:cNvPr>
          <p:cNvSpPr txBox="1">
            <a:spLocks/>
          </p:cNvSpPr>
          <p:nvPr/>
        </p:nvSpPr>
        <p:spPr>
          <a:xfrm>
            <a:off x="5670893" y="352786"/>
            <a:ext cx="5095631" cy="378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4000" indent="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en-US" sz="2400" b="1" dirty="0">
                <a:latin typeface="Bosch Sans" panose="020B0604020202020204" pitchFamily="34" charset="0"/>
              </a:rPr>
              <a:t>Background</a:t>
            </a:r>
            <a:endParaRPr lang="en-US" sz="2400" b="1" kern="0" dirty="0">
              <a:solidFill>
                <a:srgbClr val="000000"/>
              </a:solidFill>
              <a:latin typeface="Bosch Sans" panose="020B060402020202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00E6A8F-4948-4A98-DC6F-A450FC0FFC19}"/>
              </a:ext>
            </a:extLst>
          </p:cNvPr>
          <p:cNvPicPr>
            <a:picLocks noGrp="1" noChangeAspect="1"/>
          </p:cNvPicPr>
          <p:nvPr>
            <p:ph type="pic" sz="quarter" idx="1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81"/>
          <a:stretch>
            <a:fillRect/>
          </a:stretch>
        </p:blipFill>
        <p:spPr bwMode="auto">
          <a:xfrm>
            <a:off x="1" y="0"/>
            <a:ext cx="5041900" cy="617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hteck 4">
            <a:extLst>
              <a:ext uri="{FF2B5EF4-FFF2-40B4-BE49-F238E27FC236}">
                <a16:creationId xmlns:a16="http://schemas.microsoft.com/office/drawing/2014/main" id="{F75925E9-CCE3-95CB-34FC-6A07294F8C1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792710" y="1403839"/>
            <a:ext cx="3747341" cy="43088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No centralized view of cycle time across production lines.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7AE8CE73-4962-7220-2109-B3DC3241E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63504" y="1390682"/>
            <a:ext cx="457200" cy="457200"/>
          </a:xfrm>
          <a:prstGeom prst="rect">
            <a:avLst/>
          </a:prstGeom>
        </p:spPr>
      </p:pic>
      <p:sp>
        <p:nvSpPr>
          <p:cNvPr id="34" name="Rechteck 4">
            <a:extLst>
              <a:ext uri="{FF2B5EF4-FFF2-40B4-BE49-F238E27FC236}">
                <a16:creationId xmlns:a16="http://schemas.microsoft.com/office/drawing/2014/main" id="{09505F23-B537-0A44-DD38-AB230A6B4F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92708" y="5031379"/>
            <a:ext cx="3747341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Slower decision-making.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sp>
        <p:nvSpPr>
          <p:cNvPr id="36" name="Rechteck 4">
            <a:extLst>
              <a:ext uri="{FF2B5EF4-FFF2-40B4-BE49-F238E27FC236}">
                <a16:creationId xmlns:a16="http://schemas.microsoft.com/office/drawing/2014/main" id="{907161C7-0CF2-8203-C822-6833DCB8069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792708" y="4456433"/>
            <a:ext cx="4274004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Delayed issue detection.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sp>
        <p:nvSpPr>
          <p:cNvPr id="38" name="Textfeld 17">
            <a:extLst>
              <a:ext uri="{FF2B5EF4-FFF2-40B4-BE49-F238E27FC236}">
                <a16:creationId xmlns:a16="http://schemas.microsoft.com/office/drawing/2014/main" id="{5D3F58DD-6FA9-606E-6D55-1F6A9762CABC}"/>
              </a:ext>
            </a:extLst>
          </p:cNvPr>
          <p:cNvSpPr txBox="1"/>
          <p:nvPr/>
        </p:nvSpPr>
        <p:spPr>
          <a:xfrm>
            <a:off x="6118568" y="3420894"/>
            <a:ext cx="13817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33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 pitchFamily="2" charset="0"/>
                <a:ea typeface="Bosch Sans CHS" panose="020B0604020202020204" pitchFamily="34" charset="-120"/>
              </a:rPr>
              <a:t>Manual Reviews</a:t>
            </a:r>
            <a:endParaRPr kumimoji="0" lang="de-DE" sz="1400" b="1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1A6D84DA-9C8F-316E-A2CE-C92768383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63504" y="4335555"/>
            <a:ext cx="457200" cy="457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85D8A96-89E8-888F-55CC-3BEBBC0EA3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49785" y="4913931"/>
            <a:ext cx="457200" cy="457200"/>
          </a:xfrm>
          <a:prstGeom prst="rect">
            <a:avLst/>
          </a:prstGeom>
        </p:spPr>
      </p:pic>
      <p:sp>
        <p:nvSpPr>
          <p:cNvPr id="44" name="Rechteck 4">
            <a:extLst>
              <a:ext uri="{FF2B5EF4-FFF2-40B4-BE49-F238E27FC236}">
                <a16:creationId xmlns:a16="http://schemas.microsoft.com/office/drawing/2014/main" id="{EE83220C-42BD-C3C3-C124-2128E3D4014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09462" y="3881487"/>
            <a:ext cx="4274004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Line-by-line analysis.</a:t>
            </a:r>
            <a:endParaRPr lang="en-US" altLang="zh-CN" sz="1400" b="1" kern="0" dirty="0"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294B6794-B293-8951-2662-7C8AE5F8C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67022" y="3757178"/>
            <a:ext cx="457200" cy="457200"/>
          </a:xfrm>
          <a:prstGeom prst="rect">
            <a:avLst/>
          </a:prstGeom>
        </p:spPr>
      </p:pic>
      <p:sp>
        <p:nvSpPr>
          <p:cNvPr id="49" name="Rechteck 4">
            <a:extLst>
              <a:ext uri="{FF2B5EF4-FFF2-40B4-BE49-F238E27FC236}">
                <a16:creationId xmlns:a16="http://schemas.microsoft.com/office/drawing/2014/main" id="{3E385368-262F-3397-D3A7-5E65E57396D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92707" y="2075097"/>
            <a:ext cx="3747341" cy="43088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Current cycle time calculation has limited effectiveness.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sp>
        <p:nvSpPr>
          <p:cNvPr id="50" name="Rechteck 4">
            <a:extLst>
              <a:ext uri="{FF2B5EF4-FFF2-40B4-BE49-F238E27FC236}">
                <a16:creationId xmlns:a16="http://schemas.microsoft.com/office/drawing/2014/main" id="{9D8EB3AC-63E9-4E82-8770-46CC86E188C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792706" y="2744858"/>
            <a:ext cx="3747341" cy="43088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Deviations from target are not </a:t>
            </a:r>
            <a:r>
              <a:rPr lang="en-US" sz="1400" dirty="0" err="1"/>
              <a:t>inmediately</a:t>
            </a:r>
            <a:r>
              <a:rPr lang="en-US" sz="1400" dirty="0"/>
              <a:t> visible.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5B58BF7E-183B-237E-1DCF-D356855BC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45864" y="2061747"/>
            <a:ext cx="457200" cy="457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F7129984-E4B5-D5E4-9E8A-10AA012C94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63504" y="273789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3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r Verbinder 10">
            <a:extLst>
              <a:ext uri="{FF2B5EF4-FFF2-40B4-BE49-F238E27FC236}">
                <a16:creationId xmlns:a16="http://schemas.microsoft.com/office/drawing/2014/main" id="{48C456CC-0D9D-EBA2-819D-7C11ADA0E406}"/>
              </a:ext>
            </a:extLst>
          </p:cNvPr>
          <p:cNvCxnSpPr>
            <a:cxnSpLocks/>
            <a:endCxn id="35" idx="4"/>
          </p:cNvCxnSpPr>
          <p:nvPr/>
        </p:nvCxnSpPr>
        <p:spPr>
          <a:xfrm flipH="1">
            <a:off x="435066" y="2388853"/>
            <a:ext cx="1632" cy="2032125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sp>
        <p:nvSpPr>
          <p:cNvPr id="27" name="Ellipse 11">
            <a:extLst>
              <a:ext uri="{FF2B5EF4-FFF2-40B4-BE49-F238E27FC236}">
                <a16:creationId xmlns:a16="http://schemas.microsoft.com/office/drawing/2014/main" id="{F4DDE344-A7B3-0AC3-2616-63285A2CA541}"/>
              </a:ext>
            </a:extLst>
          </p:cNvPr>
          <p:cNvSpPr/>
          <p:nvPr/>
        </p:nvSpPr>
        <p:spPr>
          <a:xfrm>
            <a:off x="203200" y="2030713"/>
            <a:ext cx="463731" cy="46373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+mn-lt"/>
              </a:rPr>
              <a:t>1</a:t>
            </a:r>
            <a:endParaRPr kumimoji="0" lang="en-US" sz="1800" b="1" i="0" u="none" strike="noStrike" kern="0" cap="none" spc="0" normalizeH="0" baseline="0" noProof="0" dirty="0">
              <a:solidFill>
                <a:srgbClr val="FFFFFF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8" name="Ellipse 12">
            <a:extLst>
              <a:ext uri="{FF2B5EF4-FFF2-40B4-BE49-F238E27FC236}">
                <a16:creationId xmlns:a16="http://schemas.microsoft.com/office/drawing/2014/main" id="{DE1487DF-8770-066D-E213-5BFBF6D863B1}"/>
              </a:ext>
            </a:extLst>
          </p:cNvPr>
          <p:cNvSpPr/>
          <p:nvPr/>
        </p:nvSpPr>
        <p:spPr>
          <a:xfrm>
            <a:off x="203200" y="2993980"/>
            <a:ext cx="463731" cy="46373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kern="0">
                <a:solidFill>
                  <a:srgbClr val="FFFFFF"/>
                </a:solidFill>
                <a:latin typeface="+mn-lt"/>
              </a:rPr>
              <a:t>2</a:t>
            </a:r>
            <a:endParaRPr kumimoji="0" lang="en-US" sz="1800" b="1" i="0" u="none" strike="noStrike" kern="0" cap="none" spc="0" normalizeH="0" baseline="0" noProof="0" dirty="0">
              <a:solidFill>
                <a:srgbClr val="FFFFFF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5" name="Ellipse 13">
            <a:extLst>
              <a:ext uri="{FF2B5EF4-FFF2-40B4-BE49-F238E27FC236}">
                <a16:creationId xmlns:a16="http://schemas.microsoft.com/office/drawing/2014/main" id="{C4824FC3-3696-C033-0852-C42AD62B1232}"/>
              </a:ext>
            </a:extLst>
          </p:cNvPr>
          <p:cNvSpPr/>
          <p:nvPr/>
        </p:nvSpPr>
        <p:spPr>
          <a:xfrm>
            <a:off x="203200" y="3957247"/>
            <a:ext cx="463731" cy="46373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kern="0">
                <a:solidFill>
                  <a:srgbClr val="FFFFFF"/>
                </a:solidFill>
                <a:latin typeface="+mn-lt"/>
              </a:rPr>
              <a:t>3</a:t>
            </a:r>
            <a:endParaRPr kumimoji="0" lang="en-US" sz="1800" b="1" i="0" u="none" strike="noStrike" kern="0" cap="none" spc="0" normalizeH="0" baseline="0" noProof="0" dirty="0">
              <a:solidFill>
                <a:srgbClr val="FFFFFF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898797" y="2047135"/>
            <a:ext cx="3872191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R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Benchmark performed with Juárez 1 to compare operational practices.</a:t>
            </a:r>
            <a:endParaRPr kumimoji="0" lang="en-US" sz="1400" b="0" i="0" u="none" strike="noStrike" kern="0" cap="none" spc="0" normalizeH="0" baseline="0" noProof="0" dirty="0">
              <a:effectLst/>
              <a:uLnTx/>
              <a:uFillTx/>
              <a:latin typeface="+mn-lt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898797" y="3101701"/>
            <a:ext cx="3872191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Differences were identified in the approach used to obtain cycle time.</a:t>
            </a:r>
            <a:endParaRPr lang="en-US" sz="1400" kern="0" dirty="0">
              <a:latin typeface="+mn-lt"/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898797" y="4064969"/>
            <a:ext cx="3872191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The analysis showed that our current methodology had opportunities for improvement.</a:t>
            </a:r>
            <a:endParaRPr lang="en-US" sz="1400" kern="0" dirty="0">
              <a:latin typeface="+mn-lt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B76F37B-50A2-ECD3-E059-B51056BB7C2D}"/>
              </a:ext>
            </a:extLst>
          </p:cNvPr>
          <p:cNvSpPr txBox="1"/>
          <p:nvPr/>
        </p:nvSpPr>
        <p:spPr>
          <a:xfrm>
            <a:off x="1693889" y="61459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BF63B45-53F7-29F0-0777-CF406447B073}"/>
              </a:ext>
            </a:extLst>
          </p:cNvPr>
          <p:cNvSpPr txBox="1"/>
          <p:nvPr/>
        </p:nvSpPr>
        <p:spPr>
          <a:xfrm>
            <a:off x="6011056" y="-9293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B82FBB9D-A7CB-3D54-B55C-4B8F0B75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</p:spPr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C1097645-F7F2-808E-C94F-B355874B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99" y="648000"/>
            <a:ext cx="10558800" cy="388800"/>
          </a:xfrm>
        </p:spPr>
        <p:txBody>
          <a:bodyPr lIns="0" tIns="0" rIns="0" bIns="0"/>
          <a:lstStyle/>
          <a:p>
            <a:r>
              <a:rPr lang="en-US" dirty="0"/>
              <a:t>Benchmark</a:t>
            </a:r>
            <a:endParaRPr lang="de-DE" dirty="0"/>
          </a:p>
        </p:txBody>
      </p:sp>
      <p:sp>
        <p:nvSpPr>
          <p:cNvPr id="4" name="chapter_conv">
            <a:extLst>
              <a:ext uri="{FF2B5EF4-FFF2-40B4-BE49-F238E27FC236}">
                <a16:creationId xmlns:a16="http://schemas.microsoft.com/office/drawing/2014/main" id="{E6AA0AEC-158B-6C0B-D175-C80DFAE06B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199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Root Cause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96ABBD-3119-168B-A9D5-5E1AD59A5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81" y="462611"/>
            <a:ext cx="5001778" cy="5062738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92443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05232" y="1295400"/>
            <a:ext cx="10558767" cy="4243388"/>
          </a:xfrm>
          <a:prstGeom prst="rect">
            <a:avLst/>
          </a:prstGeom>
          <a:solidFill>
            <a:srgbClr val="EFF1F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Sans Regular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5199" y="648000"/>
            <a:ext cx="10558800" cy="388800"/>
          </a:xfrm>
        </p:spPr>
        <p:txBody>
          <a:bodyPr lIns="0" tIns="0" rIns="0" bIns="0"/>
          <a:lstStyle/>
          <a:p>
            <a:r>
              <a:rPr lang="en-US" dirty="0"/>
              <a:t>Current Cycle Time Calculation Limitation</a:t>
            </a:r>
            <a:endParaRPr lang="de-DE" dirty="0"/>
          </a:p>
        </p:txBody>
      </p:sp>
      <p:sp>
        <p:nvSpPr>
          <p:cNvPr id="3" name="chapter_conv"/>
          <p:cNvSpPr>
            <a:spLocks noGrp="1"/>
          </p:cNvSpPr>
          <p:nvPr>
            <p:ph type="body" sz="quarter" idx="15"/>
          </p:nvPr>
        </p:nvSpPr>
        <p:spPr>
          <a:xfrm>
            <a:off x="205199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Root Cause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336639" y="1799748"/>
            <a:ext cx="463731" cy="2995391"/>
            <a:chOff x="2540724" y="1626326"/>
            <a:chExt cx="463731" cy="2995391"/>
          </a:xfrm>
        </p:grpSpPr>
        <p:cxnSp>
          <p:nvCxnSpPr>
            <p:cNvPr id="11" name="Gerader Verbinder 10"/>
            <p:cNvCxnSpPr>
              <a:cxnSpLocks/>
              <a:endCxn id="15" idx="4"/>
            </p:cNvCxnSpPr>
            <p:nvPr/>
          </p:nvCxnSpPr>
          <p:spPr>
            <a:xfrm flipH="1">
              <a:off x="2772590" y="1626326"/>
              <a:ext cx="1632" cy="2995391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12" name="Ellipse 11"/>
            <p:cNvSpPr/>
            <p:nvPr/>
          </p:nvSpPr>
          <p:spPr>
            <a:xfrm>
              <a:off x="2540724" y="1626326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1" i="0" u="none" strike="noStrike" kern="0" cap="none" spc="0" normalizeH="0" baseline="0" noProof="0" dirty="0">
                  <a:solidFill>
                    <a:srgbClr val="FFFFFF"/>
                  </a:solidFill>
                  <a:effectLst/>
                  <a:uLnTx/>
                  <a:uFillTx/>
                  <a:latin typeface="+mn-lt"/>
                </a:rPr>
                <a:t>1</a:t>
              </a:r>
            </a:p>
          </p:txBody>
        </p:sp>
        <p:sp>
          <p:nvSpPr>
            <p:cNvPr id="13" name="Ellipse 12"/>
            <p:cNvSpPr/>
            <p:nvPr/>
          </p:nvSpPr>
          <p:spPr>
            <a:xfrm>
              <a:off x="2540724" y="2470213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dirty="0">
                  <a:solidFill>
                    <a:srgbClr val="FFFFFF"/>
                  </a:solidFill>
                  <a:latin typeface="+mn-lt"/>
                </a:rPr>
                <a:t>2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4" name="Ellipse 13"/>
            <p:cNvSpPr/>
            <p:nvPr/>
          </p:nvSpPr>
          <p:spPr>
            <a:xfrm>
              <a:off x="2540724" y="3314100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dirty="0">
                  <a:solidFill>
                    <a:srgbClr val="FFFFFF"/>
                  </a:solidFill>
                  <a:latin typeface="+mn-lt"/>
                </a:rPr>
                <a:t>3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5" name="Ellipse 14"/>
            <p:cNvSpPr/>
            <p:nvPr/>
          </p:nvSpPr>
          <p:spPr>
            <a:xfrm>
              <a:off x="2540724" y="4157986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noProof="0" dirty="0">
                  <a:solidFill>
                    <a:srgbClr val="FFFFFF"/>
                  </a:solidFill>
                  <a:latin typeface="+mn-lt"/>
                </a:rPr>
                <a:t>4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6" name="Textfeld 15"/>
          <p:cNvSpPr txBox="1"/>
          <p:nvPr/>
        </p:nvSpPr>
        <p:spPr>
          <a:xfrm>
            <a:off x="997946" y="1894391"/>
            <a:ext cx="2282781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The current calculation only considers the previous </a:t>
            </a:r>
            <a:r>
              <a:rPr lang="en-US" sz="1200" b="1" dirty="0"/>
              <a:t>2 hours of data.</a:t>
            </a:r>
            <a:endParaRPr kumimoji="0" lang="de-DE" sz="1200" b="0" i="0" u="none" strike="noStrike" kern="0" cap="none" spc="0" normalizeH="0" baseline="0" noProof="0" dirty="0"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997946" y="2738278"/>
            <a:ext cx="1790593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Cycle time metrics are not available for day-to-day historical analysis.</a:t>
            </a:r>
            <a:endParaRPr lang="de-DE" sz="1200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997946" y="3581032"/>
            <a:ext cx="1927753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The current calculation approach is not suitable for data inflation scenarios.</a:t>
            </a:r>
            <a:endParaRPr lang="de-DE" sz="1200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997946" y="4426980"/>
            <a:ext cx="2003965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/>
              <a:t>Historical cycle time data is not available.</a:t>
            </a:r>
            <a:endParaRPr lang="de-DE" sz="1200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BC025A-7F3A-2483-36EC-24D4375C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68C88-06BA-E63A-298E-00859D93C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434" y="1575509"/>
            <a:ext cx="6823857" cy="368317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01404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A387-9F63-312B-E10C-A46BBB13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7">
            <a:extLst>
              <a:ext uri="{FF2B5EF4-FFF2-40B4-BE49-F238E27FC236}">
                <a16:creationId xmlns:a16="http://schemas.microsoft.com/office/drawing/2014/main" id="{69E517F4-601B-F026-1581-1BD65CB520C6}"/>
              </a:ext>
            </a:extLst>
          </p:cNvPr>
          <p:cNvSpPr txBox="1"/>
          <p:nvPr/>
        </p:nvSpPr>
        <p:spPr>
          <a:xfrm>
            <a:off x="5802135" y="1176143"/>
            <a:ext cx="263694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33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 pitchFamily="2" charset="0"/>
                <a:ea typeface="Bosch Sans CHS" panose="020B0604020202020204" pitchFamily="34" charset="-120"/>
              </a:rPr>
              <a:t>Real-Time Cycle Time Visibility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85E9D127-7E88-F8E5-BDD2-5BA826FAB5B6}"/>
              </a:ext>
            </a:extLst>
          </p:cNvPr>
          <p:cNvSpPr txBox="1">
            <a:spLocks/>
          </p:cNvSpPr>
          <p:nvPr/>
        </p:nvSpPr>
        <p:spPr>
          <a:xfrm>
            <a:off x="5670893" y="352786"/>
            <a:ext cx="5095631" cy="378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4000" indent="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en-US" sz="2400" b="1" dirty="0">
                <a:latin typeface="Bosch Sans" panose="020B0604020202020204" pitchFamily="34" charset="0"/>
              </a:rPr>
              <a:t>Target State</a:t>
            </a:r>
            <a:endParaRPr lang="en-US" sz="2400" b="1" kern="0" dirty="0">
              <a:solidFill>
                <a:srgbClr val="000000"/>
              </a:solidFill>
              <a:latin typeface="Bosch Sans" panose="020B0604020202020204" pitchFamily="34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3F5C24D-A190-5A83-A905-B4EDD429C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2135" y="4312231"/>
            <a:ext cx="457200" cy="457200"/>
          </a:xfrm>
          <a:prstGeom prst="rect">
            <a:avLst/>
          </a:prstGeom>
        </p:spPr>
      </p:pic>
      <p:sp>
        <p:nvSpPr>
          <p:cNvPr id="44" name="Rechteck 4">
            <a:extLst>
              <a:ext uri="{FF2B5EF4-FFF2-40B4-BE49-F238E27FC236}">
                <a16:creationId xmlns:a16="http://schemas.microsoft.com/office/drawing/2014/main" id="{E279B44C-1745-2B9F-CBCE-1D105D8BED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94283" y="2038731"/>
            <a:ext cx="4274004" cy="64633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Provide complete and processed cycle time metrics to compare </a:t>
            </a:r>
            <a:r>
              <a:rPr lang="en-US" sz="1400" b="1" dirty="0"/>
              <a:t>actual production cycle time vs. planned cycle time</a:t>
            </a:r>
            <a:r>
              <a:rPr lang="en-US" sz="1400" dirty="0"/>
              <a:t>.</a:t>
            </a:r>
            <a:endParaRPr lang="en-US" altLang="zh-CN" sz="1400" b="1" kern="0" dirty="0"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0CC6970E-6701-D322-DEBA-C0A9D1168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2135" y="2133296"/>
            <a:ext cx="457200" cy="457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DC6BF0AA-2DE2-EF12-EC58-9A492CDED3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02135" y="3237640"/>
            <a:ext cx="457200" cy="457200"/>
          </a:xfrm>
          <a:prstGeom prst="rect">
            <a:avLst/>
          </a:prstGeom>
        </p:spPr>
      </p:pic>
      <p:sp>
        <p:nvSpPr>
          <p:cNvPr id="3" name="Rechteck 4">
            <a:extLst>
              <a:ext uri="{FF2B5EF4-FFF2-40B4-BE49-F238E27FC236}">
                <a16:creationId xmlns:a16="http://schemas.microsoft.com/office/drawing/2014/main" id="{AD60AA6D-2635-24E1-B269-8F178E1706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94283" y="3250797"/>
            <a:ext cx="4274004" cy="43088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Enable clear visibility of lines with the largest gaps from cycle time targets.</a:t>
            </a:r>
            <a:endParaRPr lang="en-US" altLang="zh-CN" sz="1400" b="1" kern="0" dirty="0"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sp>
        <p:nvSpPr>
          <p:cNvPr id="4" name="Rechteck 4">
            <a:extLst>
              <a:ext uri="{FF2B5EF4-FFF2-40B4-BE49-F238E27FC236}">
                <a16:creationId xmlns:a16="http://schemas.microsoft.com/office/drawing/2014/main" id="{DD544EA9-26B9-2C79-DA5B-E1C815626B6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94283" y="4325388"/>
            <a:ext cx="4274004" cy="43088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/>
              <a:t>Support faster identification of issues and data-driven decision-making.</a:t>
            </a:r>
            <a:endParaRPr lang="en-US" altLang="zh-CN" sz="1400" b="1" kern="0" dirty="0">
              <a:latin typeface="Bosch Office Sans" pitchFamily="2" charset="0"/>
              <a:ea typeface="Bosch Sans CHS" panose="020B0604020202020204" pitchFamily="34" charset="-12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3C0C2C-CCA5-E478-4C75-EC5047C7356A}"/>
              </a:ext>
            </a:extLst>
          </p:cNvPr>
          <p:cNvPicPr>
            <a:picLocks noGrp="1" noChangeAspect="1" noChangeArrowheads="1"/>
          </p:cNvPicPr>
          <p:nvPr>
            <p:ph type="pic" sz="quarter" idx="1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6" t="1124" r="1050" b="-112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89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1DA5-8BF7-3B21-ACAA-1112CDDF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 Time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43D64-EF2C-FC73-6B89-E28E33D31F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80DE7-AF3F-C0DC-73C0-8F1F8F27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55C0342-5408-BFC5-72C5-24B9D4C6EA0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8" y="1598954"/>
            <a:ext cx="10558462" cy="36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7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9096-04A6-7E37-9AC8-99BA2F50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5EC4CFE9-FA4F-7A28-0AAA-61FD2EE20D3E}"/>
              </a:ext>
            </a:extLst>
          </p:cNvPr>
          <p:cNvSpPr/>
          <p:nvPr/>
        </p:nvSpPr>
        <p:spPr>
          <a:xfrm>
            <a:off x="205232" y="1295400"/>
            <a:ext cx="10558767" cy="4243388"/>
          </a:xfrm>
          <a:prstGeom prst="rect">
            <a:avLst/>
          </a:prstGeom>
          <a:solidFill>
            <a:srgbClr val="EFF1F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Sans Regular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70300F-853B-756C-B18B-32906E7C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99" y="648000"/>
            <a:ext cx="10558800" cy="388800"/>
          </a:xfrm>
        </p:spPr>
        <p:txBody>
          <a:bodyPr lIns="0" tIns="0" rIns="0" bIns="0"/>
          <a:lstStyle/>
          <a:p>
            <a:r>
              <a:rPr lang="en-US" dirty="0"/>
              <a:t>Cycle Time Service - Data Cleaning</a:t>
            </a:r>
            <a:endParaRPr lang="de-DE" dirty="0"/>
          </a:p>
        </p:txBody>
      </p:sp>
      <p:sp>
        <p:nvSpPr>
          <p:cNvPr id="3" name="chapter_conv">
            <a:extLst>
              <a:ext uri="{FF2B5EF4-FFF2-40B4-BE49-F238E27FC236}">
                <a16:creationId xmlns:a16="http://schemas.microsoft.com/office/drawing/2014/main" id="{A226F3AC-0E01-3259-4158-09530AABDF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199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Root Cause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010450C-FA23-0307-5E8F-96484B0E8A17}"/>
              </a:ext>
            </a:extLst>
          </p:cNvPr>
          <p:cNvGrpSpPr/>
          <p:nvPr/>
        </p:nvGrpSpPr>
        <p:grpSpPr>
          <a:xfrm>
            <a:off x="336639" y="1799748"/>
            <a:ext cx="463731" cy="2954074"/>
            <a:chOff x="2540724" y="1626326"/>
            <a:chExt cx="463731" cy="2954074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DB4DCC70-0DFE-61C8-C897-12312C13CF18}"/>
                </a:ext>
              </a:extLst>
            </p:cNvPr>
            <p:cNvCxnSpPr>
              <a:cxnSpLocks/>
              <a:stCxn id="12" idx="0"/>
              <a:endCxn id="14" idx="4"/>
            </p:cNvCxnSpPr>
            <p:nvPr/>
          </p:nvCxnSpPr>
          <p:spPr>
            <a:xfrm>
              <a:off x="2772590" y="1626326"/>
              <a:ext cx="0" cy="2954074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D58C6BA3-E858-9B71-FDBA-8EA81E792D84}"/>
                </a:ext>
              </a:extLst>
            </p:cNvPr>
            <p:cNvSpPr/>
            <p:nvPr/>
          </p:nvSpPr>
          <p:spPr>
            <a:xfrm>
              <a:off x="2540724" y="1626326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1" i="0" u="none" strike="noStrike" kern="0" cap="none" spc="0" normalizeH="0" baseline="0" noProof="0" dirty="0">
                  <a:solidFill>
                    <a:srgbClr val="FFFFFF"/>
                  </a:solidFill>
                  <a:effectLst/>
                  <a:uLnTx/>
                  <a:uFillTx/>
                  <a:latin typeface="+mn-lt"/>
                </a:rPr>
                <a:t>1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448A37B-7742-A57A-2341-D87F47268B03}"/>
                </a:ext>
              </a:extLst>
            </p:cNvPr>
            <p:cNvSpPr/>
            <p:nvPr/>
          </p:nvSpPr>
          <p:spPr>
            <a:xfrm>
              <a:off x="2540724" y="2779941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dirty="0">
                  <a:solidFill>
                    <a:srgbClr val="FFFFFF"/>
                  </a:solidFill>
                  <a:latin typeface="+mn-lt"/>
                </a:rPr>
                <a:t>2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31D5978-8329-99AD-8378-7F87CFEACF5B}"/>
                </a:ext>
              </a:extLst>
            </p:cNvPr>
            <p:cNvSpPr/>
            <p:nvPr/>
          </p:nvSpPr>
          <p:spPr>
            <a:xfrm>
              <a:off x="2540724" y="4116669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dirty="0">
                  <a:solidFill>
                    <a:srgbClr val="FFFFFF"/>
                  </a:solidFill>
                  <a:latin typeface="+mn-lt"/>
                </a:rPr>
                <a:t>3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66151587-3EDA-6606-D329-FC5D11FCCC14}"/>
              </a:ext>
            </a:extLst>
          </p:cNvPr>
          <p:cNvSpPr txBox="1"/>
          <p:nvPr/>
        </p:nvSpPr>
        <p:spPr>
          <a:xfrm>
            <a:off x="1076070" y="1799271"/>
            <a:ext cx="2282781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b="1" dirty="0"/>
              <a:t>Current Situation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Non-production events distort cycle time calculations.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E713EED-D247-79F6-824E-8FBC1685FB28}"/>
              </a:ext>
            </a:extLst>
          </p:cNvPr>
          <p:cNvSpPr txBox="1"/>
          <p:nvPr/>
        </p:nvSpPr>
        <p:spPr>
          <a:xfrm>
            <a:off x="1076070" y="2930153"/>
            <a:ext cx="1927753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b="1" dirty="0"/>
              <a:t>Service Action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Removes invalid time records and filters production-relevant data.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458672C-673B-CE23-FEBA-058D24A486D2}"/>
              </a:ext>
            </a:extLst>
          </p:cNvPr>
          <p:cNvSpPr txBox="1"/>
          <p:nvPr/>
        </p:nvSpPr>
        <p:spPr>
          <a:xfrm>
            <a:off x="1076070" y="4211651"/>
            <a:ext cx="2003965" cy="310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b="1" dirty="0"/>
              <a:t>Result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Accurate cycle time measurement for actual vs. planned comparison.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5F19D0-E881-BF50-68D8-AD9C097C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A6B21-7FB9-547F-7A2A-C988E2298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466" y="1634396"/>
            <a:ext cx="6605654" cy="35653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692731-0B83-3769-01AB-BA28794692F4}"/>
              </a:ext>
            </a:extLst>
          </p:cNvPr>
          <p:cNvSpPr/>
          <p:nvPr/>
        </p:nvSpPr>
        <p:spPr>
          <a:xfrm>
            <a:off x="6108192" y="2670048"/>
            <a:ext cx="3209544" cy="283315"/>
          </a:xfrm>
          <a:prstGeom prst="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58883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8EFA-3E4D-E548-3A33-76D47ABA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C4F61CC-FC45-172A-3E0F-4DF1B7FB7638}"/>
              </a:ext>
            </a:extLst>
          </p:cNvPr>
          <p:cNvSpPr/>
          <p:nvPr/>
        </p:nvSpPr>
        <p:spPr>
          <a:xfrm>
            <a:off x="205232" y="1295400"/>
            <a:ext cx="10558767" cy="4243388"/>
          </a:xfrm>
          <a:prstGeom prst="rect">
            <a:avLst/>
          </a:prstGeom>
          <a:solidFill>
            <a:srgbClr val="EFF1F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Sans Regular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49B379-848D-CBE9-0101-473CC157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99" y="648000"/>
            <a:ext cx="10558800" cy="388800"/>
          </a:xfrm>
        </p:spPr>
        <p:txBody>
          <a:bodyPr lIns="0" tIns="0" rIns="0" bIns="0"/>
          <a:lstStyle/>
          <a:p>
            <a:r>
              <a:rPr lang="en-US" dirty="0"/>
              <a:t>Cycle Time Service - Data Processing</a:t>
            </a:r>
            <a:endParaRPr lang="de-DE" dirty="0"/>
          </a:p>
        </p:txBody>
      </p:sp>
      <p:sp>
        <p:nvSpPr>
          <p:cNvPr id="3" name="chapter_conv">
            <a:extLst>
              <a:ext uri="{FF2B5EF4-FFF2-40B4-BE49-F238E27FC236}">
                <a16:creationId xmlns:a16="http://schemas.microsoft.com/office/drawing/2014/main" id="{CBEA1B46-A4D9-BF9C-0014-6F628A7444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199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Root Cause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464063-93E4-5E93-A104-BF86740241BB}"/>
              </a:ext>
            </a:extLst>
          </p:cNvPr>
          <p:cNvGrpSpPr/>
          <p:nvPr/>
        </p:nvGrpSpPr>
        <p:grpSpPr>
          <a:xfrm>
            <a:off x="349343" y="1567882"/>
            <a:ext cx="463731" cy="2695243"/>
            <a:chOff x="2540722" y="762423"/>
            <a:chExt cx="463731" cy="2695243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BF9679E-FEE5-0B17-3991-CD98325CE4F0}"/>
                </a:ext>
              </a:extLst>
            </p:cNvPr>
            <p:cNvCxnSpPr>
              <a:cxnSpLocks/>
              <a:stCxn id="12" idx="0"/>
              <a:endCxn id="13" idx="4"/>
            </p:cNvCxnSpPr>
            <p:nvPr/>
          </p:nvCxnSpPr>
          <p:spPr>
            <a:xfrm>
              <a:off x="2772588" y="762423"/>
              <a:ext cx="0" cy="2695243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2A68561-1E46-5A20-1CBE-E606AB06C2C3}"/>
                </a:ext>
              </a:extLst>
            </p:cNvPr>
            <p:cNvSpPr/>
            <p:nvPr/>
          </p:nvSpPr>
          <p:spPr>
            <a:xfrm>
              <a:off x="2540722" y="762423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1" i="0" u="none" strike="noStrike" kern="0" cap="none" spc="0" normalizeH="0" baseline="0" noProof="0" dirty="0">
                  <a:solidFill>
                    <a:srgbClr val="FFFFFF"/>
                  </a:solidFill>
                  <a:effectLst/>
                  <a:uLnTx/>
                  <a:uFillTx/>
                  <a:latin typeface="+mn-lt"/>
                </a:rPr>
                <a:t>1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15ED798E-914F-3189-B1FF-155C590DB774}"/>
                </a:ext>
              </a:extLst>
            </p:cNvPr>
            <p:cNvSpPr/>
            <p:nvPr/>
          </p:nvSpPr>
          <p:spPr>
            <a:xfrm>
              <a:off x="2540722" y="2993935"/>
              <a:ext cx="463731" cy="46373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b="1" kern="0" dirty="0">
                  <a:solidFill>
                    <a:srgbClr val="FFFFFF"/>
                  </a:solidFill>
                  <a:latin typeface="+mn-lt"/>
                </a:rPr>
                <a:t>2</a:t>
              </a:r>
              <a:endParaRPr kumimoji="0" lang="de-DE" sz="1800" b="1" i="0" u="none" strike="noStrike" kern="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E99AC4-54CF-8079-21FD-0734A05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FDAA1A-031D-7C85-9D0A-115DC622C59B}"/>
              </a:ext>
            </a:extLst>
          </p:cNvPr>
          <p:cNvSpPr txBox="1"/>
          <p:nvPr/>
        </p:nvSpPr>
        <p:spPr>
          <a:xfrm>
            <a:off x="1219478" y="1494571"/>
            <a:ext cx="1548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036B3-CF9D-F65D-E057-58206A5D675D}"/>
              </a:ext>
            </a:extLst>
          </p:cNvPr>
          <p:cNvSpPr txBox="1"/>
          <p:nvPr/>
        </p:nvSpPr>
        <p:spPr>
          <a:xfrm>
            <a:off x="1714500" y="27432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F3D5ABAE-819F-E643-FA50-40F5D2890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55" y="1631320"/>
            <a:ext cx="30785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sch Sans" panose="020B0604020202020204" pitchFamily="34" charset="0"/>
              </a:rPr>
              <a:t>Applies statistical analysis to identify the normal cycle time behavior.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sch Sans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sch Sans" panose="020B0604020202020204" pitchFamily="34" charset="0"/>
              </a:rPr>
              <a:t>Uses Z-score analysis to group and filter cycle time data.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200" dirty="0">
              <a:latin typeface="Bosch Sans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sch Sans" panose="020B0604020202020204" pitchFamily="34" charset="0"/>
              </a:rPr>
              <a:t>Selects the representative data range using a 3-sigma approach.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79A90-775E-4499-455C-34D469787E6B}"/>
              </a:ext>
            </a:extLst>
          </p:cNvPr>
          <p:cNvSpPr txBox="1"/>
          <p:nvPr/>
        </p:nvSpPr>
        <p:spPr>
          <a:xfrm>
            <a:off x="1219478" y="3846593"/>
            <a:ext cx="1548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Result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1F42B736-52B7-49BD-7BF6-C280D744D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55" y="4303937"/>
            <a:ext cx="30785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hangingPunct="0">
              <a:buFont typeface="Arial" panose="020B0604020202020204" pitchFamily="34" charset="0"/>
              <a:buChar char="•"/>
            </a:pPr>
            <a:r>
              <a:rPr lang="en-US" sz="1200" dirty="0">
                <a:latin typeface="Bosch Sans" panose="020B0604020202020204" pitchFamily="34" charset="0"/>
              </a:rPr>
              <a:t>Calculates a more accurate cycle time based on actual production behavior.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sch Sans" panose="020B0604020202020204" pitchFamily="34" charset="0"/>
            </a:endParaRPr>
          </a:p>
        </p:txBody>
      </p:sp>
      <p:pic>
        <p:nvPicPr>
          <p:cNvPr id="1035" name="Picture 11">
            <a:extLst>
              <a:ext uri="{FF2B5EF4-FFF2-40B4-BE49-F238E27FC236}">
                <a16:creationId xmlns:a16="http://schemas.microsoft.com/office/drawing/2014/main" id="{EA19FBB4-3EFA-9A63-B7DF-962DD247C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05" y="1631320"/>
            <a:ext cx="5595877" cy="364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8674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</p:spPr>
        <p:txBody>
          <a:bodyPr lIns="0" tIns="0" rIns="0" bIns="0"/>
          <a:lstStyle/>
          <a:p>
            <a:r>
              <a:rPr lang="de-DE" dirty="0"/>
              <a:t>Gemba Dashboard</a:t>
            </a:r>
          </a:p>
        </p:txBody>
      </p:sp>
      <p:sp>
        <p:nvSpPr>
          <p:cNvPr id="3" name="chapter_conv"/>
          <p:cNvSpPr>
            <a:spLocks noGrp="1"/>
          </p:cNvSpPr>
          <p:nvPr>
            <p:ph type="body" sz="quarter" idx="15"/>
          </p:nvPr>
        </p:nvSpPr>
        <p:spPr>
          <a:xfrm>
            <a:off x="205200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Results &amp; Next Steps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F30007B-124C-4BB4-81E6-DD54AEA46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580" y="3667436"/>
            <a:ext cx="899999" cy="89999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94E18D5-7303-13B8-4DCF-1E00179E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9C98ACF-C90C-437E-9F8A-A5935CE3C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6172" y="3767127"/>
            <a:ext cx="800308" cy="80030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8AD4F02-D05D-4313-829D-12CE5D16F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5135" y="3639416"/>
            <a:ext cx="928019" cy="9280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290A96-C115-5315-5DCC-CA06957137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6" t="62060" r="21081" b="-828"/>
          <a:stretch>
            <a:fillRect/>
          </a:stretch>
        </p:blipFill>
        <p:spPr>
          <a:xfrm>
            <a:off x="2076281" y="1226889"/>
            <a:ext cx="6580764" cy="4295724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66397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D79E-3F36-0368-F53A-8913E9E1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3C6CB55-5A94-1E72-356B-23B21CFF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</p:spPr>
        <p:txBody>
          <a:bodyPr lIns="0" tIns="0" rIns="0" bIns="0"/>
          <a:lstStyle/>
          <a:p>
            <a:r>
              <a:rPr lang="de-DE" dirty="0"/>
              <a:t>Control Tower</a:t>
            </a:r>
          </a:p>
        </p:txBody>
      </p:sp>
      <p:sp>
        <p:nvSpPr>
          <p:cNvPr id="3" name="chapter_conv">
            <a:extLst>
              <a:ext uri="{FF2B5EF4-FFF2-40B4-BE49-F238E27FC236}">
                <a16:creationId xmlns:a16="http://schemas.microsoft.com/office/drawing/2014/main" id="{66EB018D-36B3-39EC-2B18-48341F690F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200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Results &amp; Next Steps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C5CD914-36E0-1CAE-7CA2-D70CF7257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580" y="3667436"/>
            <a:ext cx="899999" cy="89999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4509FB4-F9B3-7325-AF50-F0E7FB25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22C546D-26DD-D267-7472-268407629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5135" y="3639416"/>
            <a:ext cx="928019" cy="928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654302-96E4-CA40-AEAC-00227C949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942" y="1187729"/>
            <a:ext cx="8243316" cy="4327741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684121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</p:spPr>
        <p:txBody>
          <a:bodyPr lIns="0" tIns="0" rIns="0" bIns="0"/>
          <a:lstStyle/>
          <a:p>
            <a:r>
              <a:rPr lang="de-DE" dirty="0"/>
              <a:t>Next Steps</a:t>
            </a:r>
          </a:p>
        </p:txBody>
      </p:sp>
      <p:sp>
        <p:nvSpPr>
          <p:cNvPr id="3" name="chapter_conv"/>
          <p:cNvSpPr>
            <a:spLocks noGrp="1"/>
          </p:cNvSpPr>
          <p:nvPr>
            <p:ph type="body" sz="quarter" idx="15"/>
          </p:nvPr>
        </p:nvSpPr>
        <p:spPr>
          <a:xfrm>
            <a:off x="205200" y="259200"/>
            <a:ext cx="10558800" cy="388800"/>
          </a:xfrm>
        </p:spPr>
        <p:txBody>
          <a:bodyPr vert="horz" lIns="0" tIns="0" rIns="0" bIns="0" rtlCol="0">
            <a:noAutofit/>
          </a:bodyPr>
          <a:lstStyle/>
          <a:p>
            <a:r>
              <a:rPr lang="de-DE" dirty="0"/>
              <a:t>Roadmap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119383"/>
              </p:ext>
            </p:extLst>
          </p:nvPr>
        </p:nvGraphicFramePr>
        <p:xfrm>
          <a:off x="205225" y="3186598"/>
          <a:ext cx="105587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396">
                  <a:extLst>
                    <a:ext uri="{9D8B030D-6E8A-4147-A177-3AD203B41FA5}">
                      <a16:colId xmlns:a16="http://schemas.microsoft.com/office/drawing/2014/main" val="2878533617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2703166370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769284438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1270405358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272191252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830149901"/>
                    </a:ext>
                  </a:extLst>
                </a:gridCol>
                <a:gridCol w="1508396">
                  <a:extLst>
                    <a:ext uri="{9D8B030D-6E8A-4147-A177-3AD203B41FA5}">
                      <a16:colId xmlns:a16="http://schemas.microsoft.com/office/drawing/2014/main" val="336688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b="1" dirty="0">
                        <a:latin typeface="+mj-lt"/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1"/>
                          </a:solidFill>
                          <a:latin typeface="+mj-lt"/>
                        </a:rPr>
                        <a:t>APR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1"/>
                          </a:solidFill>
                          <a:latin typeface="+mj-lt"/>
                        </a:rPr>
                        <a:t>MAY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1"/>
                          </a:solidFill>
                          <a:latin typeface="+mj-lt"/>
                        </a:rPr>
                        <a:t>JUN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tx1"/>
                          </a:solidFill>
                          <a:latin typeface="+mj-lt"/>
                        </a:rPr>
                        <a:t>JUL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latin typeface="+mj-lt"/>
                        </a:rPr>
                        <a:t>AUG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1"/>
                          </a:solidFill>
                          <a:latin typeface="+mj-lt"/>
                        </a:rPr>
                        <a:t>Next Steps</a:t>
                      </a:r>
                    </a:p>
                  </a:txBody>
                  <a:tcPr marL="21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8627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26015" y="2779978"/>
            <a:ext cx="768755" cy="256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400" b="1" i="0" u="none" strike="noStrike" kern="0" cap="none" spc="0" normalizeH="0" baseline="0" noProof="0" dirty="0">
              <a:solidFill>
                <a:schemeClr val="accent2"/>
              </a:solidFill>
              <a:effectLst/>
              <a:uLnTx/>
              <a:uFillTx/>
              <a:latin typeface="+mj-lt"/>
            </a:endParaRPr>
          </a:p>
        </p:txBody>
      </p:sp>
      <p:graphicFrame>
        <p:nvGraphicFramePr>
          <p:cNvPr id="18" name="Inhaltsplatzhalt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205072"/>
              </p:ext>
            </p:extLst>
          </p:nvPr>
        </p:nvGraphicFramePr>
        <p:xfrm>
          <a:off x="1392040" y="1491595"/>
          <a:ext cx="1935477" cy="117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Planning</a:t>
                      </a: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84A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kumimoji="0" lang="de-D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884A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r>
                        <a:rPr lang="en-US" sz="1400" dirty="0"/>
                        <a:t>Defines project scope, requirements, objectives, and execution plan.</a:t>
                      </a:r>
                      <a:endParaRPr lang="en-US" sz="1400" b="0" dirty="0"/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22" name="Inhaltsplatzhalter 5_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497140"/>
              </p:ext>
            </p:extLst>
          </p:nvPr>
        </p:nvGraphicFramePr>
        <p:xfrm>
          <a:off x="2879551" y="4333324"/>
          <a:ext cx="1935477" cy="117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Coding</a:t>
                      </a: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Builds the solution based on defined requirements and design.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29" name="Inhaltsplatzhalter 5__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420590"/>
              </p:ext>
            </p:extLst>
          </p:nvPr>
        </p:nvGraphicFramePr>
        <p:xfrm>
          <a:off x="5872587" y="4333324"/>
          <a:ext cx="1935477" cy="117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Deployment</a:t>
                      </a:r>
                      <a:endParaRPr kumimoji="0" lang="de-D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Releases the validated solution to the production environment.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31" name="Inhaltsplatzhalter 5___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273938"/>
              </p:ext>
            </p:extLst>
          </p:nvPr>
        </p:nvGraphicFramePr>
        <p:xfrm>
          <a:off x="4374799" y="1491595"/>
          <a:ext cx="1935477" cy="117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endParaRPr kumimoji="0" lang="de-D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Validates functionality and identifies defects before deployment.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aphicFrame>
        <p:nvGraphicFramePr>
          <p:cNvPr id="33" name="Inhaltsplatzhalter 5____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2872734"/>
              </p:ext>
            </p:extLst>
          </p:nvPr>
        </p:nvGraphicFramePr>
        <p:xfrm>
          <a:off x="7390638" y="1491595"/>
          <a:ext cx="1935477" cy="117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Documentation</a:t>
                      </a:r>
                      <a:endParaRPr kumimoji="0" lang="de-D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Records key technical and functional information for future reference.</a:t>
                      </a:r>
                      <a:endParaRPr kumimoji="0" lang="de-DE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  <p:grpSp>
        <p:nvGrpSpPr>
          <p:cNvPr id="5" name="Gruppieren 4"/>
          <p:cNvGrpSpPr/>
          <p:nvPr/>
        </p:nvGrpSpPr>
        <p:grpSpPr>
          <a:xfrm>
            <a:off x="1167229" y="1491594"/>
            <a:ext cx="189817" cy="1973323"/>
            <a:chOff x="1651861" y="1489168"/>
            <a:chExt cx="189817" cy="1973323"/>
          </a:xfrm>
        </p:grpSpPr>
        <p:cxnSp>
          <p:nvCxnSpPr>
            <p:cNvPr id="19" name="Gerader Verbinder 25__"/>
            <p:cNvCxnSpPr/>
            <p:nvPr/>
          </p:nvCxnSpPr>
          <p:spPr>
            <a:xfrm>
              <a:off x="1746769" y="1489168"/>
              <a:ext cx="0" cy="1878263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14" name="Ellipse 19"/>
            <p:cNvSpPr/>
            <p:nvPr/>
          </p:nvSpPr>
          <p:spPr>
            <a:xfrm>
              <a:off x="1651861" y="3277625"/>
              <a:ext cx="189817" cy="1848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2663262" y="3280051"/>
            <a:ext cx="189817" cy="1969007"/>
            <a:chOff x="3147894" y="3277625"/>
            <a:chExt cx="189817" cy="1969007"/>
          </a:xfrm>
        </p:grpSpPr>
        <p:cxnSp>
          <p:nvCxnSpPr>
            <p:cNvPr id="28" name="Gerader Verbinder 25"/>
            <p:cNvCxnSpPr/>
            <p:nvPr/>
          </p:nvCxnSpPr>
          <p:spPr>
            <a:xfrm>
              <a:off x="3242802" y="3367432"/>
              <a:ext cx="0" cy="1879200"/>
            </a:xfrm>
            <a:prstGeom prst="line">
              <a:avLst/>
            </a:prstGeom>
            <a:solidFill>
              <a:srgbClr val="424C58"/>
            </a:solidFill>
            <a:ln w="12700">
              <a:solidFill>
                <a:srgbClr val="424C58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15" name="Ellipse 19_"/>
            <p:cNvSpPr/>
            <p:nvPr/>
          </p:nvSpPr>
          <p:spPr>
            <a:xfrm>
              <a:off x="3147894" y="3277625"/>
              <a:ext cx="189817" cy="184866"/>
            </a:xfrm>
            <a:prstGeom prst="ellipse">
              <a:avLst/>
            </a:prstGeom>
            <a:solidFill>
              <a:srgbClr val="424C58"/>
            </a:solidFill>
            <a:ln w="9525" cap="flat" cmpd="sng" algn="ctr">
              <a:solidFill>
                <a:srgbClr val="424C5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uppieren 8"/>
          <p:cNvGrpSpPr/>
          <p:nvPr/>
        </p:nvGrpSpPr>
        <p:grpSpPr>
          <a:xfrm>
            <a:off x="4154538" y="1491594"/>
            <a:ext cx="189817" cy="1973323"/>
            <a:chOff x="4639170" y="1489168"/>
            <a:chExt cx="189817" cy="1973323"/>
          </a:xfrm>
        </p:grpSpPr>
        <p:cxnSp>
          <p:nvCxnSpPr>
            <p:cNvPr id="32" name="Gerader Verbinder 25___"/>
            <p:cNvCxnSpPr/>
            <p:nvPr/>
          </p:nvCxnSpPr>
          <p:spPr>
            <a:xfrm>
              <a:off x="4734078" y="1489168"/>
              <a:ext cx="0" cy="1878263"/>
            </a:xfrm>
            <a:prstGeom prst="line">
              <a:avLst/>
            </a:prstGeom>
            <a:ln w="12700">
              <a:solidFill>
                <a:srgbClr val="424C58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23" name="Ellipse 19__"/>
            <p:cNvSpPr/>
            <p:nvPr/>
          </p:nvSpPr>
          <p:spPr>
            <a:xfrm>
              <a:off x="4639170" y="3277625"/>
              <a:ext cx="189817" cy="184866"/>
            </a:xfrm>
            <a:prstGeom prst="ellipse">
              <a:avLst/>
            </a:prstGeom>
            <a:solidFill>
              <a:srgbClr val="424C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5650571" y="3280051"/>
            <a:ext cx="189817" cy="1969007"/>
            <a:chOff x="6135203" y="3277625"/>
            <a:chExt cx="189817" cy="1969007"/>
          </a:xfrm>
        </p:grpSpPr>
        <p:cxnSp>
          <p:nvCxnSpPr>
            <p:cNvPr id="30" name="Gerader Verbinder 25_"/>
            <p:cNvCxnSpPr/>
            <p:nvPr/>
          </p:nvCxnSpPr>
          <p:spPr>
            <a:xfrm>
              <a:off x="6230111" y="3367432"/>
              <a:ext cx="0" cy="1879200"/>
            </a:xfrm>
            <a:prstGeom prst="line">
              <a:avLst/>
            </a:prstGeom>
            <a:ln w="12700">
              <a:solidFill>
                <a:srgbClr val="424C58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24" name="Ellipse 19___"/>
            <p:cNvSpPr/>
            <p:nvPr/>
          </p:nvSpPr>
          <p:spPr>
            <a:xfrm>
              <a:off x="6135203" y="3277625"/>
              <a:ext cx="189817" cy="184866"/>
            </a:xfrm>
            <a:prstGeom prst="ellipse">
              <a:avLst/>
            </a:prstGeom>
            <a:solidFill>
              <a:srgbClr val="424C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uppieren 10"/>
          <p:cNvGrpSpPr/>
          <p:nvPr/>
        </p:nvGrpSpPr>
        <p:grpSpPr>
          <a:xfrm>
            <a:off x="7164488" y="1491594"/>
            <a:ext cx="189817" cy="1973323"/>
            <a:chOff x="7618358" y="1489168"/>
            <a:chExt cx="189817" cy="1973323"/>
          </a:xfrm>
        </p:grpSpPr>
        <p:cxnSp>
          <p:nvCxnSpPr>
            <p:cNvPr id="34" name="Gerader Verbinder 25____"/>
            <p:cNvCxnSpPr/>
            <p:nvPr/>
          </p:nvCxnSpPr>
          <p:spPr>
            <a:xfrm>
              <a:off x="7713266" y="1489168"/>
              <a:ext cx="0" cy="1878263"/>
            </a:xfrm>
            <a:prstGeom prst="line">
              <a:avLst/>
            </a:prstGeom>
            <a:ln w="12700">
              <a:solidFill>
                <a:srgbClr val="424C58"/>
              </a:solidFill>
            </a:ln>
          </p:spPr>
          <p:style>
            <a:lnRef idx="1">
              <a:srgbClr val="00884A"/>
            </a:lnRef>
            <a:fillRef idx="0">
              <a:srgbClr val="00884A"/>
            </a:fillRef>
            <a:effectRef idx="0">
              <a:srgbClr val="00884A"/>
            </a:effectRef>
            <a:fontRef idx="minor">
              <a:schemeClr val="tx1"/>
            </a:fontRef>
          </p:style>
        </p:cxnSp>
        <p:sp>
          <p:nvSpPr>
            <p:cNvPr id="25" name="Ellipse 19____"/>
            <p:cNvSpPr/>
            <p:nvPr/>
          </p:nvSpPr>
          <p:spPr>
            <a:xfrm>
              <a:off x="7618358" y="3277625"/>
              <a:ext cx="189817" cy="184866"/>
            </a:xfrm>
            <a:prstGeom prst="ellipse">
              <a:avLst/>
            </a:prstGeom>
            <a:solidFill>
              <a:srgbClr val="424C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27" name="Gerader Verbinder 25_____"/>
          <p:cNvCxnSpPr/>
          <p:nvPr/>
        </p:nvCxnSpPr>
        <p:spPr>
          <a:xfrm>
            <a:off x="8772445" y="2836453"/>
            <a:ext cx="0" cy="1066808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sp>
        <p:nvSpPr>
          <p:cNvPr id="26" name="Ellipse 19_____"/>
          <p:cNvSpPr/>
          <p:nvPr/>
        </p:nvSpPr>
        <p:spPr>
          <a:xfrm>
            <a:off x="8675885" y="3277424"/>
            <a:ext cx="189817" cy="18486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2EA211-C0FC-2413-084D-F2B2B697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cxnSp>
        <p:nvCxnSpPr>
          <p:cNvPr id="13" name="Gerader Verbinder 25____">
            <a:extLst>
              <a:ext uri="{FF2B5EF4-FFF2-40B4-BE49-F238E27FC236}">
                <a16:creationId xmlns:a16="http://schemas.microsoft.com/office/drawing/2014/main" id="{6FA816E6-D863-B423-D6D7-5316EFB2465F}"/>
              </a:ext>
            </a:extLst>
          </p:cNvPr>
          <p:cNvCxnSpPr/>
          <p:nvPr/>
        </p:nvCxnSpPr>
        <p:spPr>
          <a:xfrm>
            <a:off x="8770714" y="3470440"/>
            <a:ext cx="0" cy="1878263"/>
          </a:xfrm>
          <a:prstGeom prst="line">
            <a:avLst/>
          </a:prstGeom>
          <a:ln w="12700">
            <a:solidFill>
              <a:srgbClr val="424C58"/>
            </a:solidFill>
          </a:ln>
        </p:spPr>
        <p:style>
          <a:lnRef idx="1">
            <a:srgbClr val="00884A"/>
          </a:lnRef>
          <a:fillRef idx="0">
            <a:srgbClr val="00884A"/>
          </a:fillRef>
          <a:effectRef idx="0">
            <a:srgbClr val="00884A"/>
          </a:effectRef>
          <a:fontRef idx="minor">
            <a:schemeClr val="tx1"/>
          </a:fontRef>
        </p:style>
      </p:cxnSp>
      <p:graphicFrame>
        <p:nvGraphicFramePr>
          <p:cNvPr id="20" name="Inhaltsplatzhalter 5____">
            <a:extLst>
              <a:ext uri="{FF2B5EF4-FFF2-40B4-BE49-F238E27FC236}">
                <a16:creationId xmlns:a16="http://schemas.microsoft.com/office/drawing/2014/main" id="{A98F27A4-9C1E-1B3D-6FE0-8FAB915BD7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196753"/>
              </p:ext>
            </p:extLst>
          </p:nvPr>
        </p:nvGraphicFramePr>
        <p:xfrm>
          <a:off x="8897821" y="3910174"/>
          <a:ext cx="1935477" cy="1418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77">
                  <a:extLst>
                    <a:ext uri="{9D8B030D-6E8A-4147-A177-3AD203B41FA5}">
                      <a16:colId xmlns:a16="http://schemas.microsoft.com/office/drawing/2014/main" val="222448469"/>
                    </a:ext>
                  </a:extLst>
                </a:gridCol>
              </a:tblGrid>
              <a:tr h="192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SMC Implementation</a:t>
                      </a:r>
                      <a:endParaRPr kumimoji="0" lang="de-DE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180000" marT="0" marB="36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020139"/>
                  </a:ext>
                </a:extLst>
              </a:tr>
              <a:tr h="894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Implement this solution with SMC system.</a:t>
                      </a:r>
                    </a:p>
                  </a:txBody>
                  <a:tcPr marL="0" marR="18000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34559"/>
                  </a:ext>
                </a:extLst>
              </a:tr>
            </a:tbl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95057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LANGUAGE" val="eng"/>
  <p:tag name="MLTEMPLATEVERSION" val="2.2"/>
  <p:tag name="SAXCONVERSION" val="2"/>
  <p:tag name="SAXMLCOMPANYNAME" val="bosch"/>
  <p:tag name="SAXMLTEMPLATE" val="presentation_16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86fGIxQvJLoSFD4F2cK18EAAAAAAADAAAAAAADAAAAAwADAAAAAAADAAAABAADAAAAAAD///////8DAAEA////////BQAAAAMAEAALsBGXpqlMb0CIDbcsCdujdAQAAAABAAMAAAACAAMAAAAEAAQAAgD///////8FAAAABAAQAAugv4G7zga1T7Y4MGL3p8N9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fzp8YjFC8kuhIUPgXZwrXwREYXRhAAUAAAAAAk5hbWUADQAAAExpbmtEYXRhTGlzdAAQVmVyc2lvbgABAAAACUxhc3RXcml0ZQAINtWLlQEAAAABAP////9hAGEAAAAFX2lkABAAAAAEsBGXpqlMb0CIDbcsCdujdAREYXRhAAUAAAAAAk5hbWUADQAAAExpbmtEYXRhTGlzdAAQVmVyc2lvbgAAAAAACUxhc3RXcml0ZQAHNtWLlQEAAAACAP////9wAHAAAAAFX2lkABAAAAAEoL+Bu84GtU+2ODBi96fDfQNEYXRhABYAAAACUGVyc29uYWxJZAABAAAAAAACTmFtZQALAAAAUGVyc29uYWxJZAAQVmVyc2lvbgAAAAAACUxhc3RXcml0ZQAmNtWLl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UBAwAAAAMA////////DgAGTGlua0RhdGFMaXN0XzAEAAAAAQAFAAAAAAAFAAAAAgAFAAAAAAD///////8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774045609574426"/>
  <p:tag name="EMPOWERCHARTSPROPERTIES_B_LENGTH" val="24576"/>
  <p:tag name="RUNTIME_ID" val="fe24cb00-84cb-40c6-a538-78c168162d4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2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3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4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5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6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7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8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ppt/theme/themeOverride9.xml><?xml version="1.0" encoding="utf-8"?>
<a:themeOverride xmlns:a="http://schemas.openxmlformats.org/drawingml/2006/main">
  <a:clrScheme name="Bosch Blau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07BC0"/>
    </a:accent1>
    <a:accent2>
      <a:srgbClr val="004975"/>
    </a:accent2>
    <a:accent3>
      <a:srgbClr val="007BC0"/>
    </a:accent3>
    <a:accent4>
      <a:srgbClr val="004975"/>
    </a:accent4>
    <a:accent5>
      <a:srgbClr val="007BC0"/>
    </a:accent5>
    <a:accent6>
      <a:srgbClr val="004975"/>
    </a:accent6>
    <a:hlink>
      <a:srgbClr val="738CB4"/>
    </a:hlink>
    <a:folHlink>
      <a:srgbClr val="B0BB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Nota de adjunto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TlP/MFD</OrgInhalt>
      <Wert>TlP/MFD</Wert>
      <Platzhalter>False</Platzhalter>
      <DocDatenDialog>True</DocDatenDialog>
      <Label>Nota de autor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Todos los derechos reservados, también en relación a cualquier mantenimiento, utilización, reproducción, procesamiento y transferencia, así como en caso de solicitudes de derechos de propiedad.</OrgInhalt>
      <Wert>Todos los derechos reservados, también en relación a cualquier mantenimiento, utilización, reproducción, procesamiento y transferencia, así como en caso de solicitudes de derechos de propiedad.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2026-07-02</OrgInhalt>
      <Wert>2026-07-02</Wert>
      <Platzhalter>False</Platzhalter>
      <DocDatenDialog>True</DocDatenDialog>
      <Label>Fecha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Nota de archivo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3545</TotalTime>
  <Words>394</Words>
  <Application>Microsoft Office PowerPoint</Application>
  <PresentationFormat>Custom</PresentationFormat>
  <Paragraphs>96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Bosch Office Sans</vt:lpstr>
      <vt:lpstr>Bosch Sans</vt:lpstr>
      <vt:lpstr>Bosch Sans Regular</vt:lpstr>
      <vt:lpstr>Calibri</vt:lpstr>
      <vt:lpstr>Symbol</vt:lpstr>
      <vt:lpstr>Wingdings</vt:lpstr>
      <vt:lpstr>Bosch 2024</vt:lpstr>
      <vt:lpstr>Cycle Time Service</vt:lpstr>
      <vt:lpstr>PowerPoint Presentation</vt:lpstr>
      <vt:lpstr>Benchmark</vt:lpstr>
      <vt:lpstr>Current Cycle Time Calculation Limitation</vt:lpstr>
      <vt:lpstr>PowerPoint Presentation</vt:lpstr>
      <vt:lpstr>Cycle Time Service</vt:lpstr>
      <vt:lpstr>Cycle Time Service - Data Cleaning</vt:lpstr>
      <vt:lpstr>Cycle Time Service - Data Processing</vt:lpstr>
      <vt:lpstr>Gemba Dashboard</vt:lpstr>
      <vt:lpstr>Control Tower</vt:lpstr>
      <vt:lpstr>Next Steps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EXTERNAL Gonzalez Vazquez Jose Antonio (PM, TlP/MFD)</dc:creator>
  <cp:lastModifiedBy>EXTERNAL Gonzalez Vazquez Jose Antonio (PM, TlP/MFD)</cp:lastModifiedBy>
  <cp:revision>102</cp:revision>
  <dcterms:created xsi:type="dcterms:W3CDTF">2026-07-02T22:16:17Z</dcterms:created>
  <dcterms:modified xsi:type="dcterms:W3CDTF">2026-08-17T22:16:51Z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